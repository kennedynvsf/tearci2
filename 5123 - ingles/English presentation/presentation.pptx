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2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14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7684" y="5496684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12305" y="-193005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17953" y="6316953"/>
            <a:ext cx="3970047" cy="3970047"/>
          </a:xfrm>
          <a:custGeom>
            <a:avLst/>
            <a:gdLst/>
            <a:ahLst/>
            <a:cxnLst/>
            <a:rect r="r" b="b" t="t" l="l"/>
            <a:pathLst>
              <a:path h="3970047" w="3970047">
                <a:moveTo>
                  <a:pt x="0" y="0"/>
                </a:moveTo>
                <a:lnTo>
                  <a:pt x="3970047" y="0"/>
                </a:lnTo>
                <a:lnTo>
                  <a:pt x="3970047" y="3970047"/>
                </a:lnTo>
                <a:lnTo>
                  <a:pt x="0" y="39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5796340" y="228657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0" y="0"/>
            <a:ext cx="3970047" cy="3970047"/>
          </a:xfrm>
          <a:custGeom>
            <a:avLst/>
            <a:gdLst/>
            <a:ahLst/>
            <a:cxnLst/>
            <a:rect r="r" b="b" t="t" l="l"/>
            <a:pathLst>
              <a:path h="3970047" w="3970047">
                <a:moveTo>
                  <a:pt x="0" y="0"/>
                </a:moveTo>
                <a:lnTo>
                  <a:pt x="3970047" y="0"/>
                </a:lnTo>
                <a:lnTo>
                  <a:pt x="3970047" y="3970047"/>
                </a:lnTo>
                <a:lnTo>
                  <a:pt x="0" y="39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700000">
            <a:off x="-2491660" y="293019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43100" y="-1328448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44900" y="895855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4599" y="198502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76646" y="806908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7929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0" y="0"/>
                </a:moveTo>
                <a:lnTo>
                  <a:pt x="3010803" y="0"/>
                </a:lnTo>
                <a:lnTo>
                  <a:pt x="3010803" y="930612"/>
                </a:lnTo>
                <a:lnTo>
                  <a:pt x="0" y="930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4248497" y="5633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3010803" y="0"/>
                </a:moveTo>
                <a:lnTo>
                  <a:pt x="0" y="0"/>
                </a:lnTo>
                <a:lnTo>
                  <a:pt x="0" y="930612"/>
                </a:lnTo>
                <a:lnTo>
                  <a:pt x="3010803" y="930612"/>
                </a:lnTo>
                <a:lnTo>
                  <a:pt x="3010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368201" y="1494006"/>
            <a:ext cx="1290858" cy="1110138"/>
          </a:xfrm>
          <a:custGeom>
            <a:avLst/>
            <a:gdLst/>
            <a:ahLst/>
            <a:cxnLst/>
            <a:rect r="r" b="b" t="t" l="l"/>
            <a:pathLst>
              <a:path h="1110138" w="1290858">
                <a:moveTo>
                  <a:pt x="0" y="0"/>
                </a:moveTo>
                <a:lnTo>
                  <a:pt x="1290858" y="0"/>
                </a:lnTo>
                <a:lnTo>
                  <a:pt x="1290858" y="1110138"/>
                </a:lnTo>
                <a:lnTo>
                  <a:pt x="0" y="11101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671722" y="4379622"/>
            <a:ext cx="10944556" cy="146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8"/>
              </a:lnSpc>
              <a:spcBef>
                <a:spcPct val="0"/>
              </a:spcBef>
            </a:pPr>
            <a:r>
              <a:rPr lang="en-US" b="true" sz="40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EXPLORING SEARCH ENGINES, CHAT ROOMS &amp; VIDEO CONFERENCING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68201" y="5927555"/>
            <a:ext cx="9551598" cy="67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0"/>
              </a:lnSpc>
              <a:spcBef>
                <a:spcPct val="0"/>
              </a:spcBef>
            </a:pPr>
            <a:r>
              <a:rPr lang="en-US" sz="37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Kennedy Freitas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00986" y="881135"/>
            <a:ext cx="5886028" cy="3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5124 | IEFP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59059" y="1724084"/>
            <a:ext cx="10433976" cy="57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5"/>
              </a:lnSpc>
            </a:pPr>
            <a:r>
              <a:rPr lang="en-US" sz="3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INSTITUTO DO EMPREGO E FORMAÇÃO PROFISSIONAL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18677" y="2865355"/>
            <a:ext cx="4923536" cy="4795717"/>
            <a:chOff x="0" y="0"/>
            <a:chExt cx="1296734" cy="12630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6734" cy="1263069"/>
            </a:xfrm>
            <a:custGeom>
              <a:avLst/>
              <a:gdLst/>
              <a:ahLst/>
              <a:cxnLst/>
              <a:rect r="r" b="b" t="t" l="l"/>
              <a:pathLst>
                <a:path h="1263069" w="1296734">
                  <a:moveTo>
                    <a:pt x="0" y="0"/>
                  </a:moveTo>
                  <a:lnTo>
                    <a:pt x="1296734" y="0"/>
                  </a:lnTo>
                  <a:lnTo>
                    <a:pt x="1296734" y="1263069"/>
                  </a:lnTo>
                  <a:lnTo>
                    <a:pt x="0" y="12630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96734" cy="1320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539269" y="2867619"/>
            <a:ext cx="9276637" cy="590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36" indent="-403012" lvl="2">
              <a:lnSpc>
                <a:spcPts val="3919"/>
              </a:lnSpc>
              <a:buFont typeface="Arial"/>
              <a:buChar char="⚬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internet has transformed the way we conduct research and interact with others.</a:t>
            </a:r>
          </a:p>
          <a:p>
            <a:pPr algn="l">
              <a:lnSpc>
                <a:spcPts val="3919"/>
              </a:lnSpc>
            </a:pPr>
          </a:p>
          <a:p>
            <a:pPr algn="l" marL="1209036" indent="-403012" lvl="2">
              <a:lnSpc>
                <a:spcPts val="3919"/>
              </a:lnSpc>
              <a:buFont typeface="Arial"/>
              <a:buChar char="⚬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Online tools like search engines, chat rooms, and video conferencing have revolutionized communication and information retrieval.</a:t>
            </a:r>
          </a:p>
          <a:p>
            <a:pPr algn="l">
              <a:lnSpc>
                <a:spcPts val="3919"/>
              </a:lnSpc>
            </a:pPr>
          </a:p>
          <a:p>
            <a:pPr algn="l" marL="1209036" indent="-403012" lvl="2">
              <a:lnSpc>
                <a:spcPts val="391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This presentation will explore the role of these tools in online research and interaction.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6366890" y="1241246"/>
            <a:ext cx="5538711" cy="1030616"/>
            <a:chOff x="0" y="0"/>
            <a:chExt cx="1666785" cy="3101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66785" cy="310147"/>
            </a:xfrm>
            <a:custGeom>
              <a:avLst/>
              <a:gdLst/>
              <a:ahLst/>
              <a:cxnLst/>
              <a:rect r="r" b="b" t="t" l="l"/>
              <a:pathLst>
                <a:path h="310147" w="1666785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78854" y="3161622"/>
            <a:ext cx="4203184" cy="420318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2"/>
              <a:stretch>
                <a:fillRect l="-25046" t="0" r="-25046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883876" y="1258062"/>
            <a:ext cx="4504738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071033" y="9327060"/>
            <a:ext cx="10132128" cy="40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IEFP Mazagão | www.iefp.pt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402665" y="739506"/>
            <a:ext cx="10002499" cy="1665960"/>
            <a:chOff x="0" y="0"/>
            <a:chExt cx="3010090" cy="5013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10090" cy="501344"/>
            </a:xfrm>
            <a:custGeom>
              <a:avLst/>
              <a:gdLst/>
              <a:ahLst/>
              <a:cxnLst/>
              <a:rect r="r" b="b" t="t" l="l"/>
              <a:pathLst>
                <a:path h="501344" w="3010090">
                  <a:moveTo>
                    <a:pt x="0" y="0"/>
                  </a:moveTo>
                  <a:lnTo>
                    <a:pt x="3010090" y="0"/>
                  </a:lnTo>
                  <a:lnTo>
                    <a:pt x="3010090" y="501344"/>
                  </a:lnTo>
                  <a:lnTo>
                    <a:pt x="0" y="50134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010090" cy="558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353590" y="6066324"/>
            <a:ext cx="4487809" cy="1516880"/>
          </a:xfrm>
          <a:custGeom>
            <a:avLst/>
            <a:gdLst/>
            <a:ahLst/>
            <a:cxnLst/>
            <a:rect r="r" b="b" t="t" l="l"/>
            <a:pathLst>
              <a:path h="1516880" w="4487809">
                <a:moveTo>
                  <a:pt x="0" y="0"/>
                </a:moveTo>
                <a:lnTo>
                  <a:pt x="4487809" y="0"/>
                </a:lnTo>
                <a:lnTo>
                  <a:pt x="4487809" y="1516879"/>
                </a:lnTo>
                <a:lnTo>
                  <a:pt x="0" y="15168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590026" y="5340732"/>
            <a:ext cx="3761008" cy="2968062"/>
          </a:xfrm>
          <a:custGeom>
            <a:avLst/>
            <a:gdLst/>
            <a:ahLst/>
            <a:cxnLst/>
            <a:rect r="r" b="b" t="t" l="l"/>
            <a:pathLst>
              <a:path h="2968062" w="3761008">
                <a:moveTo>
                  <a:pt x="0" y="0"/>
                </a:moveTo>
                <a:lnTo>
                  <a:pt x="3761008" y="0"/>
                </a:lnTo>
                <a:lnTo>
                  <a:pt x="3761008" y="2968062"/>
                </a:lnTo>
                <a:lnTo>
                  <a:pt x="0" y="296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918525" y="5480317"/>
            <a:ext cx="2688892" cy="2688892"/>
          </a:xfrm>
          <a:custGeom>
            <a:avLst/>
            <a:gdLst/>
            <a:ahLst/>
            <a:cxnLst/>
            <a:rect r="r" b="b" t="t" l="l"/>
            <a:pathLst>
              <a:path h="2688892" w="2688892">
                <a:moveTo>
                  <a:pt x="0" y="0"/>
                </a:moveTo>
                <a:lnTo>
                  <a:pt x="2688892" y="0"/>
                </a:lnTo>
                <a:lnTo>
                  <a:pt x="2688892" y="2688893"/>
                </a:lnTo>
                <a:lnTo>
                  <a:pt x="0" y="2688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855271" y="3483992"/>
            <a:ext cx="8577457" cy="121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Search engines are tools that help users find information on the internet.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02665" y="698434"/>
            <a:ext cx="9833321" cy="161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SEARCH ENGINES: THE GATEWAY TO INFORMATION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071033" y="9327060"/>
            <a:ext cx="10132128" cy="40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IEFP Mazagão | www.iefp.pt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210721" y="3857614"/>
            <a:ext cx="5729748" cy="3408933"/>
            <a:chOff x="0" y="0"/>
            <a:chExt cx="1509069" cy="8978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09069" cy="897826"/>
            </a:xfrm>
            <a:custGeom>
              <a:avLst/>
              <a:gdLst/>
              <a:ahLst/>
              <a:cxnLst/>
              <a:rect r="r" b="b" t="t" l="l"/>
              <a:pathLst>
                <a:path h="897826" w="1509069">
                  <a:moveTo>
                    <a:pt x="0" y="0"/>
                  </a:moveTo>
                  <a:lnTo>
                    <a:pt x="1509069" y="0"/>
                  </a:lnTo>
                  <a:lnTo>
                    <a:pt x="1509069" y="897826"/>
                  </a:lnTo>
                  <a:lnTo>
                    <a:pt x="0" y="8978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509069" cy="954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47531" y="3857614"/>
            <a:ext cx="5729748" cy="3408933"/>
            <a:chOff x="0" y="0"/>
            <a:chExt cx="1509069" cy="8978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09069" cy="897826"/>
            </a:xfrm>
            <a:custGeom>
              <a:avLst/>
              <a:gdLst/>
              <a:ahLst/>
              <a:cxnLst/>
              <a:rect r="r" b="b" t="t" l="l"/>
              <a:pathLst>
                <a:path h="897826" w="1509069">
                  <a:moveTo>
                    <a:pt x="0" y="0"/>
                  </a:moveTo>
                  <a:lnTo>
                    <a:pt x="1509069" y="0"/>
                  </a:lnTo>
                  <a:lnTo>
                    <a:pt x="1509069" y="897826"/>
                  </a:lnTo>
                  <a:lnTo>
                    <a:pt x="0" y="8978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509069" cy="954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597115" y="4053837"/>
            <a:ext cx="4956960" cy="2905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Search engines use bots to scan and index web pages.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33925" y="4053837"/>
            <a:ext cx="4956960" cy="2905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Algorithms rank pages based on relevance, quality, and other factors.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366890" y="1241246"/>
            <a:ext cx="5538711" cy="1030616"/>
            <a:chOff x="0" y="0"/>
            <a:chExt cx="1666785" cy="3101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66785" cy="310147"/>
            </a:xfrm>
            <a:custGeom>
              <a:avLst/>
              <a:gdLst/>
              <a:ahLst/>
              <a:cxnLst/>
              <a:rect r="r" b="b" t="t" l="l"/>
              <a:pathLst>
                <a:path h="310147" w="1666785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814196" y="1281520"/>
            <a:ext cx="4644099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HOW IT WORKS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875863" y="3558515"/>
            <a:ext cx="2305717" cy="598197"/>
            <a:chOff x="0" y="0"/>
            <a:chExt cx="1348510" cy="34985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8510" cy="349858"/>
            </a:xfrm>
            <a:custGeom>
              <a:avLst/>
              <a:gdLst/>
              <a:ahLst/>
              <a:cxnLst/>
              <a:rect r="r" b="b" t="t" l="l"/>
              <a:pathLst>
                <a:path h="349858" w="1348510">
                  <a:moveTo>
                    <a:pt x="0" y="0"/>
                  </a:moveTo>
                  <a:lnTo>
                    <a:pt x="1348510" y="0"/>
                  </a:lnTo>
                  <a:lnTo>
                    <a:pt x="1348510" y="349858"/>
                  </a:lnTo>
                  <a:lnTo>
                    <a:pt x="0" y="34985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348510" cy="407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059547" y="3558515"/>
            <a:ext cx="2305717" cy="598197"/>
            <a:chOff x="0" y="0"/>
            <a:chExt cx="1348510" cy="34985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8510" cy="349858"/>
            </a:xfrm>
            <a:custGeom>
              <a:avLst/>
              <a:gdLst/>
              <a:ahLst/>
              <a:cxnLst/>
              <a:rect r="r" b="b" t="t" l="l"/>
              <a:pathLst>
                <a:path h="349858" w="1348510">
                  <a:moveTo>
                    <a:pt x="0" y="0"/>
                  </a:moveTo>
                  <a:lnTo>
                    <a:pt x="1348510" y="0"/>
                  </a:lnTo>
                  <a:lnTo>
                    <a:pt x="1348510" y="349858"/>
                  </a:lnTo>
                  <a:lnTo>
                    <a:pt x="0" y="34985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348510" cy="407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000695" y="3577579"/>
            <a:ext cx="2056052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CRAWLING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184379" y="3577579"/>
            <a:ext cx="2056052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RANKING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71033" y="9327060"/>
            <a:ext cx="10132128" cy="40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IEFP Mazagão | www.iefp.pt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342312" y="3729248"/>
            <a:ext cx="4410488" cy="3940997"/>
            <a:chOff x="0" y="0"/>
            <a:chExt cx="1161610" cy="10379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61610" cy="1037958"/>
            </a:xfrm>
            <a:custGeom>
              <a:avLst/>
              <a:gdLst/>
              <a:ahLst/>
              <a:cxnLst/>
              <a:rect r="r" b="b" t="t" l="l"/>
              <a:pathLst>
                <a:path h="1037958" w="1161610">
                  <a:moveTo>
                    <a:pt x="0" y="0"/>
                  </a:moveTo>
                  <a:lnTo>
                    <a:pt x="1161610" y="0"/>
                  </a:lnTo>
                  <a:lnTo>
                    <a:pt x="1161610" y="1037958"/>
                  </a:lnTo>
                  <a:lnTo>
                    <a:pt x="0" y="1037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61610" cy="1095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535201" y="3729248"/>
            <a:ext cx="4410488" cy="3940997"/>
            <a:chOff x="0" y="0"/>
            <a:chExt cx="1161610" cy="10379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1610" cy="1037958"/>
            </a:xfrm>
            <a:custGeom>
              <a:avLst/>
              <a:gdLst/>
              <a:ahLst/>
              <a:cxnLst/>
              <a:rect r="r" b="b" t="t" l="l"/>
              <a:pathLst>
                <a:path h="1037958" w="1161610">
                  <a:moveTo>
                    <a:pt x="0" y="0"/>
                  </a:moveTo>
                  <a:lnTo>
                    <a:pt x="1161610" y="0"/>
                  </a:lnTo>
                  <a:lnTo>
                    <a:pt x="1161610" y="1037958"/>
                  </a:lnTo>
                  <a:lnTo>
                    <a:pt x="0" y="1037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161610" cy="1095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38756" y="3729248"/>
            <a:ext cx="4410488" cy="3940997"/>
            <a:chOff x="0" y="0"/>
            <a:chExt cx="1161610" cy="10379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61610" cy="1037958"/>
            </a:xfrm>
            <a:custGeom>
              <a:avLst/>
              <a:gdLst/>
              <a:ahLst/>
              <a:cxnLst/>
              <a:rect r="r" b="b" t="t" l="l"/>
              <a:pathLst>
                <a:path h="1037958" w="1161610">
                  <a:moveTo>
                    <a:pt x="0" y="0"/>
                  </a:moveTo>
                  <a:lnTo>
                    <a:pt x="1161610" y="0"/>
                  </a:lnTo>
                  <a:lnTo>
                    <a:pt x="1161610" y="1037958"/>
                  </a:lnTo>
                  <a:lnTo>
                    <a:pt x="0" y="10379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161610" cy="1095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582488" y="4666734"/>
            <a:ext cx="3918118" cy="1619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  <a:spcBef>
                <a:spcPct val="0"/>
              </a:spcBef>
            </a:pPr>
            <a:r>
              <a:rPr lang="en-US" sz="233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Chat rooms are online spaces where people can engage in real-time text-based conversations.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98419" y="4200507"/>
            <a:ext cx="3866565" cy="300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Public chat rooms: Open to everyone (e.g. Discord channels).</a:t>
            </a:r>
          </a:p>
          <a:p>
            <a:pPr algn="ctr" marL="453392" indent="-226696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Private chat rooms: Restricted to specific users (e.g., group chats in messaging apps).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1807162" y="4200507"/>
            <a:ext cx="3866565" cy="307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Collaboration: Share ideas and discuss topics with peers and experts.</a:t>
            </a:r>
          </a:p>
          <a:p>
            <a:pPr algn="l" marL="474981" indent="-237491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Instant feedback: Get quick responses to questions.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6366890" y="1241246"/>
            <a:ext cx="5538711" cy="1030616"/>
            <a:chOff x="0" y="0"/>
            <a:chExt cx="1666785" cy="3101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66785" cy="310147"/>
            </a:xfrm>
            <a:custGeom>
              <a:avLst/>
              <a:gdLst/>
              <a:ahLst/>
              <a:cxnLst/>
              <a:rect r="r" b="b" t="t" l="l"/>
              <a:pathLst>
                <a:path h="310147" w="1666785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560546" y="1281534"/>
            <a:ext cx="5151398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CHAT ROOMS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3398913" y="3401665"/>
            <a:ext cx="2494520" cy="598197"/>
            <a:chOff x="0" y="0"/>
            <a:chExt cx="1458933" cy="34985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58933" cy="349858"/>
            </a:xfrm>
            <a:custGeom>
              <a:avLst/>
              <a:gdLst/>
              <a:ahLst/>
              <a:cxnLst/>
              <a:rect r="r" b="b" t="t" l="l"/>
              <a:pathLst>
                <a:path h="349858" w="1458933">
                  <a:moveTo>
                    <a:pt x="0" y="0"/>
                  </a:moveTo>
                  <a:lnTo>
                    <a:pt x="1458933" y="0"/>
                  </a:lnTo>
                  <a:lnTo>
                    <a:pt x="1458933" y="349858"/>
                  </a:lnTo>
                  <a:lnTo>
                    <a:pt x="0" y="34985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458933" cy="407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549394" y="3430149"/>
            <a:ext cx="2302834" cy="598197"/>
            <a:chOff x="0" y="0"/>
            <a:chExt cx="1346824" cy="3498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46824" cy="349858"/>
            </a:xfrm>
            <a:custGeom>
              <a:avLst/>
              <a:gdLst/>
              <a:ahLst/>
              <a:cxnLst/>
              <a:rect r="r" b="b" t="t" l="l"/>
              <a:pathLst>
                <a:path h="349858" w="1346824">
                  <a:moveTo>
                    <a:pt x="0" y="0"/>
                  </a:moveTo>
                  <a:lnTo>
                    <a:pt x="1346824" y="0"/>
                  </a:lnTo>
                  <a:lnTo>
                    <a:pt x="1346824" y="349858"/>
                  </a:lnTo>
                  <a:lnTo>
                    <a:pt x="0" y="34985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346824" cy="407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363411" y="3430149"/>
            <a:ext cx="1561178" cy="598197"/>
            <a:chOff x="0" y="0"/>
            <a:chExt cx="913062" cy="3498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3062" cy="349858"/>
            </a:xfrm>
            <a:custGeom>
              <a:avLst/>
              <a:gdLst/>
              <a:ahLst/>
              <a:cxnLst/>
              <a:rect r="r" b="b" t="t" l="l"/>
              <a:pathLst>
                <a:path h="349858" w="913062">
                  <a:moveTo>
                    <a:pt x="0" y="0"/>
                  </a:moveTo>
                  <a:lnTo>
                    <a:pt x="913062" y="0"/>
                  </a:lnTo>
                  <a:lnTo>
                    <a:pt x="913062" y="349858"/>
                  </a:lnTo>
                  <a:lnTo>
                    <a:pt x="0" y="34985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913062" cy="407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398913" y="3420729"/>
            <a:ext cx="233757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DEFINITION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493374" y="3420729"/>
            <a:ext cx="1301252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TYPES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34238" y="3420729"/>
            <a:ext cx="2133145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071033" y="9327060"/>
            <a:ext cx="10132128" cy="40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IEFP Mazagão | www.iefp.pt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881587" y="1241246"/>
            <a:ext cx="8509316" cy="1030616"/>
            <a:chOff x="0" y="0"/>
            <a:chExt cx="2560741" cy="3101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0741" cy="310147"/>
            </a:xfrm>
            <a:custGeom>
              <a:avLst/>
              <a:gdLst/>
              <a:ahLst/>
              <a:cxnLst/>
              <a:rect r="r" b="b" t="t" l="l"/>
              <a:pathLst>
                <a:path h="310147" w="2560741">
                  <a:moveTo>
                    <a:pt x="0" y="0"/>
                  </a:moveTo>
                  <a:lnTo>
                    <a:pt x="2560741" y="0"/>
                  </a:lnTo>
                  <a:lnTo>
                    <a:pt x="2560741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60741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597133" y="6320860"/>
            <a:ext cx="4205398" cy="1093403"/>
          </a:xfrm>
          <a:custGeom>
            <a:avLst/>
            <a:gdLst/>
            <a:ahLst/>
            <a:cxnLst/>
            <a:rect r="r" b="b" t="t" l="l"/>
            <a:pathLst>
              <a:path h="1093403" w="4205398">
                <a:moveTo>
                  <a:pt x="0" y="0"/>
                </a:moveTo>
                <a:lnTo>
                  <a:pt x="4205397" y="0"/>
                </a:lnTo>
                <a:lnTo>
                  <a:pt x="4205397" y="1093403"/>
                </a:lnTo>
                <a:lnTo>
                  <a:pt x="0" y="10934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725448" y="5749928"/>
            <a:ext cx="1991070" cy="1997085"/>
          </a:xfrm>
          <a:custGeom>
            <a:avLst/>
            <a:gdLst/>
            <a:ahLst/>
            <a:cxnLst/>
            <a:rect r="r" b="b" t="t" l="l"/>
            <a:pathLst>
              <a:path h="1997085" w="1991070">
                <a:moveTo>
                  <a:pt x="0" y="0"/>
                </a:moveTo>
                <a:lnTo>
                  <a:pt x="1991069" y="0"/>
                </a:lnTo>
                <a:lnTo>
                  <a:pt x="1991069" y="1997085"/>
                </a:lnTo>
                <a:lnTo>
                  <a:pt x="0" y="199708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169619" y="5576365"/>
            <a:ext cx="2521249" cy="2344212"/>
          </a:xfrm>
          <a:custGeom>
            <a:avLst/>
            <a:gdLst/>
            <a:ahLst/>
            <a:cxnLst/>
            <a:rect r="r" b="b" t="t" l="l"/>
            <a:pathLst>
              <a:path h="2344212" w="2521249">
                <a:moveTo>
                  <a:pt x="0" y="0"/>
                </a:moveTo>
                <a:lnTo>
                  <a:pt x="2521248" y="0"/>
                </a:lnTo>
                <a:lnTo>
                  <a:pt x="2521248" y="2344212"/>
                </a:lnTo>
                <a:lnTo>
                  <a:pt x="0" y="23442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567609" y="3472448"/>
            <a:ext cx="9743835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Video conferencing allows users to meet and communicate via video and audio over the internet.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67609" y="1281534"/>
            <a:ext cx="9137273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VIDEO CONFERENCING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077936" y="9327060"/>
            <a:ext cx="10132128" cy="40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IEFP Mazagão | www.iefp.pt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367741" y="739506"/>
            <a:ext cx="5538711" cy="1030616"/>
            <a:chOff x="0" y="0"/>
            <a:chExt cx="1666785" cy="3101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66785" cy="310147"/>
            </a:xfrm>
            <a:custGeom>
              <a:avLst/>
              <a:gdLst/>
              <a:ahLst/>
              <a:cxnLst/>
              <a:rect r="r" b="b" t="t" l="l"/>
              <a:pathLst>
                <a:path h="310147" w="1666785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071148" y="2405466"/>
            <a:ext cx="6399483" cy="6220930"/>
          </a:xfrm>
          <a:custGeom>
            <a:avLst/>
            <a:gdLst/>
            <a:ahLst/>
            <a:cxnLst/>
            <a:rect r="r" b="b" t="t" l="l"/>
            <a:pathLst>
              <a:path h="6220930" w="6399483">
                <a:moveTo>
                  <a:pt x="0" y="0"/>
                </a:moveTo>
                <a:lnTo>
                  <a:pt x="6399484" y="0"/>
                </a:lnTo>
                <a:lnTo>
                  <a:pt x="6399484" y="6220931"/>
                </a:lnTo>
                <a:lnTo>
                  <a:pt x="0" y="62209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7152" r="0" b="-2715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561397" y="779794"/>
            <a:ext cx="5151398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HOW IT WORKS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68459" y="3839173"/>
            <a:ext cx="6046675" cy="357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2001" indent="-361001" lvl="1">
              <a:lnSpc>
                <a:spcPts val="4681"/>
              </a:lnSpc>
              <a:buFont typeface="Arial"/>
              <a:buChar char="•"/>
            </a:pPr>
            <a:r>
              <a:rPr lang="en-US" sz="33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Users can join virtual meetings, webinars, or lectures.</a:t>
            </a:r>
          </a:p>
          <a:p>
            <a:pPr algn="l" marL="722001" indent="-361001" lvl="1">
              <a:lnSpc>
                <a:spcPts val="4681"/>
              </a:lnSpc>
              <a:buFont typeface="Arial"/>
              <a:buChar char="•"/>
            </a:pPr>
            <a:r>
              <a:rPr lang="en-US" sz="334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discussions with screen sharing and file sharing.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71033" y="9327060"/>
            <a:ext cx="10132128" cy="40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IEFP Mazagão | www.iefp.pt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366890" y="1241246"/>
            <a:ext cx="5538711" cy="1030616"/>
            <a:chOff x="0" y="0"/>
            <a:chExt cx="1666785" cy="3101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66785" cy="310147"/>
            </a:xfrm>
            <a:custGeom>
              <a:avLst/>
              <a:gdLst/>
              <a:ahLst/>
              <a:cxnLst/>
              <a:rect r="r" b="b" t="t" l="l"/>
              <a:pathLst>
                <a:path h="310147" w="1666785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560546" y="1281534"/>
            <a:ext cx="5151398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TOOLS RELATION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34726" y="2596990"/>
            <a:ext cx="4832164" cy="534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  <a:spcBef>
                <a:spcPct val="0"/>
              </a:spcBef>
            </a:pPr>
            <a:r>
              <a:rPr lang="en-US" b="true" sz="277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Purpose:</a:t>
            </a:r>
          </a:p>
          <a:p>
            <a:pPr algn="l" marL="599399" indent="-299700" lvl="1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Search engines: Find information quickly.</a:t>
            </a:r>
          </a:p>
          <a:p>
            <a:pPr algn="l">
              <a:lnSpc>
                <a:spcPts val="3886"/>
              </a:lnSpc>
            </a:pPr>
          </a:p>
          <a:p>
            <a:pPr algn="l" marL="599399" indent="-299700" lvl="1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Chat rooms: Enable real-time communication.</a:t>
            </a:r>
          </a:p>
          <a:p>
            <a:pPr algn="l">
              <a:lnSpc>
                <a:spcPts val="3886"/>
              </a:lnSpc>
            </a:pPr>
          </a:p>
          <a:p>
            <a:pPr algn="l" marL="599399" indent="-299700" lvl="1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Video conferencing: Facilitate face-to-face collaboration remotely.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33115" y="3229700"/>
            <a:ext cx="5869559" cy="534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2"/>
              </a:lnSpc>
              <a:spcBef>
                <a:spcPct val="0"/>
              </a:spcBef>
            </a:pPr>
            <a:r>
              <a:rPr lang="en-US" b="true" sz="27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Advantages:</a:t>
            </a:r>
          </a:p>
          <a:p>
            <a:pPr algn="l" marL="600203" indent="-300101" lvl="1">
              <a:lnSpc>
                <a:spcPts val="3892"/>
              </a:lnSpc>
              <a:buFont typeface="Arial"/>
              <a:buChar char="•"/>
            </a:pPr>
            <a:r>
              <a:rPr lang="en-US" sz="27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Search engines: Access to vast information.</a:t>
            </a:r>
          </a:p>
          <a:p>
            <a:pPr algn="l">
              <a:lnSpc>
                <a:spcPts val="3892"/>
              </a:lnSpc>
            </a:pPr>
          </a:p>
          <a:p>
            <a:pPr algn="l" marL="600203" indent="-300101" lvl="1">
              <a:lnSpc>
                <a:spcPts val="3892"/>
              </a:lnSpc>
              <a:buFont typeface="Arial"/>
              <a:buChar char="•"/>
            </a:pPr>
            <a:r>
              <a:rPr lang="en-US" sz="27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Chat rooms: Instant communication with experts and peers.</a:t>
            </a:r>
          </a:p>
          <a:p>
            <a:pPr algn="l">
              <a:lnSpc>
                <a:spcPts val="3892"/>
              </a:lnSpc>
            </a:pPr>
          </a:p>
          <a:p>
            <a:pPr algn="l" marL="600203" indent="-300101" lvl="1">
              <a:lnSpc>
                <a:spcPts val="3892"/>
              </a:lnSpc>
              <a:buFont typeface="Arial"/>
              <a:buChar char="•"/>
            </a:pPr>
            <a:r>
              <a:rPr lang="en-US" sz="27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Video conferencing: Effective for remote collaboration and face-to-face interaction.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8899" y="2596990"/>
            <a:ext cx="4775263" cy="632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2"/>
              </a:lnSpc>
              <a:spcBef>
                <a:spcPct val="0"/>
              </a:spcBef>
            </a:pPr>
            <a:r>
              <a:rPr lang="en-US" b="true" sz="27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Challenges:</a:t>
            </a:r>
          </a:p>
          <a:p>
            <a:pPr algn="l" marL="600203" indent="-300101" lvl="1">
              <a:lnSpc>
                <a:spcPts val="3892"/>
              </a:lnSpc>
              <a:buFont typeface="Arial"/>
              <a:buChar char="•"/>
            </a:pPr>
            <a:r>
              <a:rPr lang="en-US" sz="27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Search engines: Overwhelming amount of information.</a:t>
            </a:r>
          </a:p>
          <a:p>
            <a:pPr algn="l">
              <a:lnSpc>
                <a:spcPts val="3892"/>
              </a:lnSpc>
            </a:pPr>
          </a:p>
          <a:p>
            <a:pPr algn="l" marL="600203" indent="-300101" lvl="1">
              <a:lnSpc>
                <a:spcPts val="3892"/>
              </a:lnSpc>
              <a:buFont typeface="Arial"/>
              <a:buChar char="•"/>
            </a:pPr>
            <a:r>
              <a:rPr lang="en-US" sz="27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Chat rooms: Miscommunication or spam.</a:t>
            </a:r>
          </a:p>
          <a:p>
            <a:pPr algn="l">
              <a:lnSpc>
                <a:spcPts val="3892"/>
              </a:lnSpc>
            </a:pPr>
          </a:p>
          <a:p>
            <a:pPr algn="l" marL="600203" indent="-300101" lvl="1">
              <a:lnSpc>
                <a:spcPts val="3892"/>
              </a:lnSpc>
              <a:buFont typeface="Arial"/>
              <a:buChar char="•"/>
            </a:pPr>
            <a:r>
              <a:rPr lang="en-US" sz="27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Video conferencing: Technical difficulties and time zone differences.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77936" y="9327060"/>
            <a:ext cx="10132128" cy="40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IEFP Mazagão | www.iefp.pt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2587" y="7414263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70"/>
                </a:lnTo>
                <a:lnTo>
                  <a:pt x="0" y="307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98113" y="-375135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8901" y="7920577"/>
            <a:ext cx="2450523" cy="2450523"/>
          </a:xfrm>
          <a:custGeom>
            <a:avLst/>
            <a:gdLst/>
            <a:ahLst/>
            <a:cxnLst/>
            <a:rect r="r" b="b" t="t" l="l"/>
            <a:pathLst>
              <a:path h="2450523" w="2450523">
                <a:moveTo>
                  <a:pt x="0" y="0"/>
                </a:moveTo>
                <a:lnTo>
                  <a:pt x="2450523" y="0"/>
                </a:lnTo>
                <a:lnTo>
                  <a:pt x="2450523" y="2450523"/>
                </a:lnTo>
                <a:lnTo>
                  <a:pt x="0" y="2450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69201" y="-246222"/>
            <a:ext cx="2651689" cy="2651689"/>
          </a:xfrm>
          <a:custGeom>
            <a:avLst/>
            <a:gdLst/>
            <a:ahLst/>
            <a:cxnLst/>
            <a:rect r="r" b="b" t="t" l="l"/>
            <a:pathLst>
              <a:path h="2651689" w="2651689">
                <a:moveTo>
                  <a:pt x="0" y="0"/>
                </a:moveTo>
                <a:lnTo>
                  <a:pt x="2651689" y="0"/>
                </a:lnTo>
                <a:lnTo>
                  <a:pt x="2651689" y="2651688"/>
                </a:lnTo>
                <a:lnTo>
                  <a:pt x="0" y="2651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700000">
            <a:off x="16750015" y="5360938"/>
            <a:ext cx="3075969" cy="3075969"/>
          </a:xfrm>
          <a:custGeom>
            <a:avLst/>
            <a:gdLst/>
            <a:ahLst/>
            <a:cxnLst/>
            <a:rect r="r" b="b" t="t" l="l"/>
            <a:pathLst>
              <a:path h="3075969" w="3075969">
                <a:moveTo>
                  <a:pt x="0" y="0"/>
                </a:moveTo>
                <a:lnTo>
                  <a:pt x="3075970" y="0"/>
                </a:lnTo>
                <a:lnTo>
                  <a:pt x="3075970" y="3075969"/>
                </a:lnTo>
                <a:lnTo>
                  <a:pt x="0" y="3075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100000">
            <a:off x="-1664239" y="1924527"/>
            <a:ext cx="3328479" cy="3328479"/>
          </a:xfrm>
          <a:custGeom>
            <a:avLst/>
            <a:gdLst/>
            <a:ahLst/>
            <a:cxnLst/>
            <a:rect r="r" b="b" t="t" l="l"/>
            <a:pathLst>
              <a:path h="3328479" w="3328479">
                <a:moveTo>
                  <a:pt x="0" y="0"/>
                </a:moveTo>
                <a:lnTo>
                  <a:pt x="3328478" y="0"/>
                </a:lnTo>
                <a:lnTo>
                  <a:pt x="3328478" y="3328479"/>
                </a:lnTo>
                <a:lnTo>
                  <a:pt x="0" y="332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40198" y="9460152"/>
            <a:ext cx="1658065" cy="1639977"/>
          </a:xfrm>
          <a:custGeom>
            <a:avLst/>
            <a:gdLst/>
            <a:ahLst/>
            <a:cxnLst/>
            <a:rect r="r" b="b" t="t" l="l"/>
            <a:pathLst>
              <a:path h="1639977" w="1658065">
                <a:moveTo>
                  <a:pt x="0" y="0"/>
                </a:moveTo>
                <a:lnTo>
                  <a:pt x="1658065" y="0"/>
                </a:lnTo>
                <a:lnTo>
                  <a:pt x="1658065" y="1639977"/>
                </a:lnTo>
                <a:lnTo>
                  <a:pt x="0" y="163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857871" y="-1035099"/>
            <a:ext cx="1794177" cy="1774605"/>
          </a:xfrm>
          <a:custGeom>
            <a:avLst/>
            <a:gdLst/>
            <a:ahLst/>
            <a:cxnLst/>
            <a:rect r="r" b="b" t="t" l="l"/>
            <a:pathLst>
              <a:path h="1774605" w="1794177">
                <a:moveTo>
                  <a:pt x="0" y="0"/>
                </a:moveTo>
                <a:lnTo>
                  <a:pt x="1794178" y="0"/>
                </a:lnTo>
                <a:lnTo>
                  <a:pt x="1794178" y="1774605"/>
                </a:lnTo>
                <a:lnTo>
                  <a:pt x="0" y="1774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57558" y="9002084"/>
            <a:ext cx="1180071" cy="143754"/>
          </a:xfrm>
          <a:custGeom>
            <a:avLst/>
            <a:gdLst/>
            <a:ahLst/>
            <a:cxnLst/>
            <a:rect r="r" b="b" t="t" l="l"/>
            <a:pathLst>
              <a:path h="143754" w="1180071">
                <a:moveTo>
                  <a:pt x="0" y="0"/>
                </a:moveTo>
                <a:lnTo>
                  <a:pt x="1180071" y="0"/>
                </a:lnTo>
                <a:lnTo>
                  <a:pt x="1180071" y="143754"/>
                </a:lnTo>
                <a:lnTo>
                  <a:pt x="0" y="1437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398041" y="1079622"/>
            <a:ext cx="1276944" cy="155555"/>
          </a:xfrm>
          <a:custGeom>
            <a:avLst/>
            <a:gdLst/>
            <a:ahLst/>
            <a:cxnLst/>
            <a:rect r="r" b="b" t="t" l="l"/>
            <a:pathLst>
              <a:path h="155555" w="1276944">
                <a:moveTo>
                  <a:pt x="0" y="0"/>
                </a:moveTo>
                <a:lnTo>
                  <a:pt x="1276944" y="0"/>
                </a:lnTo>
                <a:lnTo>
                  <a:pt x="1276944" y="155555"/>
                </a:lnTo>
                <a:lnTo>
                  <a:pt x="0" y="155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8447" y="9343447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0" y="0"/>
                </a:moveTo>
                <a:lnTo>
                  <a:pt x="1432701" y="0"/>
                </a:lnTo>
                <a:lnTo>
                  <a:pt x="1432701" y="442835"/>
                </a:lnTo>
                <a:lnTo>
                  <a:pt x="0" y="442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16852" y="500718"/>
            <a:ext cx="1432702" cy="442835"/>
          </a:xfrm>
          <a:custGeom>
            <a:avLst/>
            <a:gdLst/>
            <a:ahLst/>
            <a:cxnLst/>
            <a:rect r="r" b="b" t="t" l="l"/>
            <a:pathLst>
              <a:path h="442835" w="1432702">
                <a:moveTo>
                  <a:pt x="1432701" y="0"/>
                </a:moveTo>
                <a:lnTo>
                  <a:pt x="0" y="0"/>
                </a:lnTo>
                <a:lnTo>
                  <a:pt x="0" y="442835"/>
                </a:lnTo>
                <a:lnTo>
                  <a:pt x="1432701" y="442835"/>
                </a:lnTo>
                <a:lnTo>
                  <a:pt x="14327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859903" y="4137575"/>
            <a:ext cx="12552684" cy="339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Online tools like search engines, chat rooms, and video conferencing are essential in modern research and collaboration.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Each tool serves a unique purpose, enabling individuals to access information, communicate, and collaborate efficiently.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Understanding how to use these tools effectively enhances online research and interaction.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6366890" y="1241246"/>
            <a:ext cx="5538711" cy="1030616"/>
            <a:chOff x="0" y="0"/>
            <a:chExt cx="1666785" cy="3101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66785" cy="310147"/>
            </a:xfrm>
            <a:custGeom>
              <a:avLst/>
              <a:gdLst/>
              <a:ahLst/>
              <a:cxnLst/>
              <a:rect r="r" b="b" t="t" l="l"/>
              <a:pathLst>
                <a:path h="310147" w="1666785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3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560546" y="1281534"/>
            <a:ext cx="5151398" cy="81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b="true" sz="451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77936" y="9327060"/>
            <a:ext cx="10132128" cy="40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IEFP Mazagão | www.iefp.pt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97684" y="5496684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1" y="0"/>
                </a:lnTo>
                <a:lnTo>
                  <a:pt x="4983321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12305" y="-193005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17953" y="6316953"/>
            <a:ext cx="3970047" cy="3970047"/>
          </a:xfrm>
          <a:custGeom>
            <a:avLst/>
            <a:gdLst/>
            <a:ahLst/>
            <a:cxnLst/>
            <a:rect r="r" b="b" t="t" l="l"/>
            <a:pathLst>
              <a:path h="3970047" w="3970047">
                <a:moveTo>
                  <a:pt x="0" y="0"/>
                </a:moveTo>
                <a:lnTo>
                  <a:pt x="3970047" y="0"/>
                </a:lnTo>
                <a:lnTo>
                  <a:pt x="3970047" y="3970047"/>
                </a:lnTo>
                <a:lnTo>
                  <a:pt x="0" y="39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5796340" y="228657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0" y="0"/>
                </a:moveTo>
                <a:lnTo>
                  <a:pt x="4983320" y="0"/>
                </a:lnTo>
                <a:lnTo>
                  <a:pt x="4983320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0" y="0"/>
            <a:ext cx="3970047" cy="3970047"/>
          </a:xfrm>
          <a:custGeom>
            <a:avLst/>
            <a:gdLst/>
            <a:ahLst/>
            <a:cxnLst/>
            <a:rect r="r" b="b" t="t" l="l"/>
            <a:pathLst>
              <a:path h="3970047" w="3970047">
                <a:moveTo>
                  <a:pt x="0" y="0"/>
                </a:moveTo>
                <a:lnTo>
                  <a:pt x="3970047" y="0"/>
                </a:lnTo>
                <a:lnTo>
                  <a:pt x="3970047" y="3970047"/>
                </a:lnTo>
                <a:lnTo>
                  <a:pt x="0" y="39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2700000">
            <a:off x="-2491660" y="2930197"/>
            <a:ext cx="4983320" cy="4983320"/>
          </a:xfrm>
          <a:custGeom>
            <a:avLst/>
            <a:gdLst/>
            <a:ahLst/>
            <a:cxnLst/>
            <a:rect r="r" b="b" t="t" l="l"/>
            <a:pathLst>
              <a:path h="4983320" w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343100" y="-1328448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44900" y="8958552"/>
            <a:ext cx="2686201" cy="2656897"/>
          </a:xfrm>
          <a:custGeom>
            <a:avLst/>
            <a:gdLst/>
            <a:ahLst/>
            <a:cxnLst/>
            <a:rect r="r" b="b" t="t" l="l"/>
            <a:pathLst>
              <a:path h="2656897" w="2686201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4599" y="198502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76646" y="8069083"/>
            <a:ext cx="1911810" cy="232893"/>
          </a:xfrm>
          <a:custGeom>
            <a:avLst/>
            <a:gdLst/>
            <a:ahLst/>
            <a:cxnLst/>
            <a:rect r="r" b="b" t="t" l="l"/>
            <a:pathLst>
              <a:path h="232893" w="1911810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7929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0" y="0"/>
                </a:moveTo>
                <a:lnTo>
                  <a:pt x="3010803" y="0"/>
                </a:lnTo>
                <a:lnTo>
                  <a:pt x="3010803" y="930612"/>
                </a:lnTo>
                <a:lnTo>
                  <a:pt x="0" y="930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4248497" y="563394"/>
            <a:ext cx="3010803" cy="930612"/>
          </a:xfrm>
          <a:custGeom>
            <a:avLst/>
            <a:gdLst/>
            <a:ahLst/>
            <a:cxnLst/>
            <a:rect r="r" b="b" t="t" l="l"/>
            <a:pathLst>
              <a:path h="930612" w="3010803">
                <a:moveTo>
                  <a:pt x="3010803" y="0"/>
                </a:moveTo>
                <a:lnTo>
                  <a:pt x="0" y="0"/>
                </a:lnTo>
                <a:lnTo>
                  <a:pt x="0" y="930612"/>
                </a:lnTo>
                <a:lnTo>
                  <a:pt x="3010803" y="930612"/>
                </a:lnTo>
                <a:lnTo>
                  <a:pt x="3010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71722" y="3693822"/>
            <a:ext cx="10944556" cy="172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27"/>
              </a:lnSpc>
              <a:spcBef>
                <a:spcPct val="0"/>
              </a:spcBef>
            </a:pPr>
            <a:r>
              <a:rPr lang="en-US" b="true" sz="95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68201" y="5317082"/>
            <a:ext cx="9551598" cy="67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0"/>
              </a:lnSpc>
              <a:spcBef>
                <a:spcPct val="0"/>
              </a:spcBef>
            </a:pPr>
            <a:r>
              <a:rPr lang="en-US" sz="37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Presented by Kennedy Freitas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77936" y="9327060"/>
            <a:ext cx="10132128" cy="40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IEFP Mazagão | www.iefp.pt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DAGYzzpQep0</dc:identifier>
  <dcterms:modified xsi:type="dcterms:W3CDTF">2011-08-01T06:04:30Z</dcterms:modified>
  <cp:revision>1</cp:revision>
  <dc:title>Black Gray and White Geometric Minimalist Thesis Defense Presentation</dc:title>
</cp:coreProperties>
</file>